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743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A78D6"/>
                </a:solidFill>
                <a:latin typeface="Segoe UI"/>
              </a:rPr>
              <a:t>TESTE TÉCNICO A3DATA — CIENTISTA DE DADOS (LLM/NLP)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0B0B"/>
                </a:solidFill>
                <a:latin typeface="Segoe UI"/>
              </a:rPr>
              <a:t>Do book review ao insight de negócio: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52514E"/>
                </a:solidFill>
                <a:latin typeface="Segoe UI"/>
              </a:rPr>
              <a:t>uma ferramenta de análise automatizada com NLP e LLM para a editora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98781"/>
                </a:solidFill>
                <a:latin typeface="Segoe UI"/>
              </a:rPr>
              <a:t>Marcio Belloni — Cientista de Dados — mbelloni@alumni.usp.br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A78D6"/>
                </a:solidFill>
                <a:latin typeface="Segoe UI"/>
              </a:rPr>
              <a:t>A. O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Uma editora, milhões de reviews, um processo manual que não escala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A editora contratou a A3Data para explorar sua base de avaliações de livros (Amazon Books Reviews) e extrair valor de negócio dela.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Objetivos de negócio: entender performance por autor e por gênero, e localizar usuários com opiniões relevantes para entrevista.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Hoje esse trabalho é 100% manual: 5 analistas, 3 dias por ciclo de análise — não escala com o volume de dados (~3 milhões de reviews, ~212 mil livros).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As colunas de texto (review, resumo, descrição do livro) são a maior fonte de valor não explorada — pedem NLP e, idealmente, LLM.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Entregável proposto: uma ferramenta (API) que automatiza a exploração, com sumarização, busca semântica e ranking de reviewers relevantes.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AF7A"/>
                </a:solidFill>
                <a:latin typeface="Segoe UI"/>
              </a:rPr>
              <a:t>B.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Planejamento de entregáveis — hoje e o que vem a seguir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Fase 1 — MVP (este projeto): amostragem + EDA, sentimento e keywords clássicos, RAG com embeddings locais + Groq, API FastAPI com 3 endpoints, métricas de qualidade objetivas.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Fase 2 — Produção: ingestão incremental do catálogo completo, embeddings multilíngues (a busca hoje é melhor em inglês que em português), monitoramento de custo/latência do LLM, testes automatizados.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Fase 3 — Confiabilidade: avaliação contínua (ROUGE/precisão@k como gates de CI), human-in-the-loop para validar resumos antes de publicar, versionamento do índice vetorial.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Fase 4 — Expansão de produto: dashboard de negócio (BI) sobre os mesmos dados, alertas automáticos de reviews discrepantes/críticas, integração com o time editorial e de marketing.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A78D6"/>
                </a:solidFill>
                <a:latin typeface="Segoe UI"/>
              </a:rPr>
              <a:t>C. PROCESSO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Pipeline da solução, ponta a ponta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607820" cy="12801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1. Amostragem
(DuckDB)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65020" y="3273552"/>
            <a:ext cx="320040" cy="219456"/>
          </a:xfrm>
          <a:prstGeom prst="right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85060" y="2743200"/>
            <a:ext cx="1607820" cy="12801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2. Limpeza &amp;
junção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92880" y="3273552"/>
            <a:ext cx="320040" cy="219456"/>
          </a:xfrm>
          <a:prstGeom prst="right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2920" y="2743200"/>
            <a:ext cx="1607820" cy="12801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3. EDA
(Jupyter)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20740" y="3273552"/>
            <a:ext cx="320040" cy="219456"/>
          </a:xfrm>
          <a:prstGeom prst="right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0780" y="2743200"/>
            <a:ext cx="1607820" cy="12801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4. NLP clássico
(VADER, TF-IDF)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48600" y="3273552"/>
            <a:ext cx="320040" cy="219456"/>
          </a:xfrm>
          <a:prstGeom prst="right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68640" y="2743200"/>
            <a:ext cx="1607820" cy="128016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5. Indexação RAG
(embeddings + Chroma)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76460" y="3273552"/>
            <a:ext cx="320040" cy="219456"/>
          </a:xfrm>
          <a:prstGeom prst="rightArrow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96500" y="2743200"/>
            <a:ext cx="1607820" cy="128016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6. API FastAPI
(LLM via Groq)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8056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52514E"/>
                </a:solidFill>
                <a:latin typeface="Segoe UI"/>
              </a:rPr>
              <a:t>•  Cada etapa é um script/notebook independente e reexecutável (src/ e notebooks/), versionado no repositório.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52514E"/>
                </a:solidFill>
                <a:latin typeface="Segoe UI"/>
              </a:rPr>
              <a:t>•  Amostra representativa e proporcional (~200 mil reviews de ~3 milhões) para rodar em ambiente local sem infraestrutura dedicada.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52514E"/>
                </a:solidFill>
                <a:latin typeface="Segoe UI"/>
              </a:rPr>
              <a:t>•  Etapas 5-6 usam a mesma arquitetura de um projeto de RAG já validado (LangChain + ChromaDB + Groq/Llama 3.3 70B).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34948"/>
                </a:solidFill>
                <a:latin typeface="Segoe UI"/>
              </a:rPr>
              <a:t>D. HIPÓTESES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O que testamos na exploração — e o que os dados confirmaram ou não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H1 — A base é enviesada para notas altas. CONFIRMADA: 60% das reviews são 5 estrelas, 80% são 4-5 estrelas.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H2 — Reviews de nota extrema (1 ou 5) são as mais longas/detalhadas. REFUTADA: reviews de nota 3-4 são as mais longas (mediana ~600-650 caracteres); 5 estrelas são as mais curtas (~470) — elogio rápido, pouco detalhe.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H3 — Sentimento léxico clássico (VADER) é suficiente para captar a opinião do texto. PARCIALMENTE REFUTADA: 75% de acurácia geral, mas erra a maioria dos casos difíceis (sarcasmo, crítica com elogios pontuais) — LLM recupera 63% desses casos.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H4 — Os metadados atuais (autor/gênero) têm problemas de qualidade que dificultam a análise manual. CONFIRMADA: mesmo autor aparece duplicado por variação de nome (ex.: "J. R. R. Tolkien" vs. "John Ronald Reuel Tolkien") — oportunidade de normalização via LLM.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H5 — Cobertura de metadados é suficiente para segmentar por autor/gênero. CONFIRMADA: 87% das reviews têm autor identificado, 82% têm gênero.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A78D6"/>
                </a:solidFill>
                <a:latin typeface="Segoe UI"/>
              </a:rPr>
              <a:t>E. ANÁLISE EXPLORATÓRIA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Distribuição de notas e evolução do volume de reviews</a:t>
            </a:r>
          </a:p>
        </p:txBody>
      </p:sp>
      <p:pic>
        <p:nvPicPr>
          <p:cNvPr id="5" name="Picture 4" descr="sc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509260" cy="3672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10200"/>
            <a:ext cx="55092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898781"/>
                </a:solidFill>
                <a:latin typeface="Segoe UI"/>
              </a:rPr>
              <a:t>198.924 reviews amostradas (proporcional aos ~3M originais)</a:t>
            </a:r>
          </a:p>
        </p:txBody>
      </p:sp>
      <p:pic>
        <p:nvPicPr>
          <p:cNvPr id="7" name="Picture 6" descr="reviews_por_a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60" y="1691640"/>
            <a:ext cx="5509260" cy="27546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95060" y="4491990"/>
            <a:ext cx="55092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898781"/>
                </a:solidFill>
                <a:latin typeface="Segoe UI"/>
              </a:rPr>
              <a:t>Pico em 2012 (~20 mil reviews); queda em 2013 é corte parcial do ano na coleta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A78D6"/>
                </a:solidFill>
                <a:latin typeface="Segoe UI"/>
              </a:rPr>
              <a:t>E. ANÁLISE EXPLORATÓRIA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Performance por gênero e por autor</a:t>
            </a:r>
          </a:p>
        </p:txBody>
      </p:sp>
      <p:pic>
        <p:nvPicPr>
          <p:cNvPr id="5" name="Picture 4" descr="generos_volume_no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11247120" cy="43258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A78D6"/>
                </a:solidFill>
                <a:latin typeface="Segoe UI"/>
              </a:rPr>
              <a:t>E. ANÁLISE EXPLORATÓRIA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Quem mais é avaliado x quem é mais bem avaliado</a:t>
            </a:r>
          </a:p>
        </p:txBody>
      </p:sp>
      <p:pic>
        <p:nvPicPr>
          <p:cNvPr id="5" name="Picture 4" descr="autores_volume_no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11247120" cy="4325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63175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898781"/>
                </a:solidFill>
                <a:latin typeface="Segoe UI"/>
              </a:rPr>
              <a:t>Nota: "J. R. R. Tolkien" e "John Ronald Reuel Tolkien" — mesmo autor, duplicado nos metadados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A78D6"/>
                </a:solidFill>
                <a:latin typeface="Segoe UI"/>
              </a:rPr>
              <a:t>F. SUMARIZAÇÃO DE 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Do volume de reviews para "o que os leitores estão dizendo"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Abordagem: para cada livro/autor, o LLM (Groq/Llama 3.3 70B) sintetiza as reviews mais substantivas em um resumo estruturado — sentimento geral, elogios, críticas e uma citação representativa.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Disponível como endpoint da API: GET /resumo/livro/{título} e GET /resumo/autor/{autor} — geração sob demanda, não pré-computada, sempre com as reviews mais recentes da base.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Exemplo real (The Hobbit, 1.450 reviews na amostra, nota média 4,65): "Sentimento geral extremamente positivo... elogiam a criatividade e a construção do mundo de Middle-earth... críticas mencionam a lentidão do início".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Avaliação objetiva: ROUGE-L de 0,19 comparando resumos de review individual contra o resumo humano real já presente no dataset — mas similaridade semântica (embeddings) de 0,44, bem mais alta, confirmando que o resumo captura o significado mesmo usando palavras diferentes do resumo humano (que é estilizado, não descritivo).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Produção: cache dos resumos mais acessados, e opção de resumo incremental conforme novas reviews chegam.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AF7A"/>
                </a:solidFill>
                <a:latin typeface="Segoe UI"/>
              </a:rPr>
              <a:t>G. BASE DE CONHECIMENTO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RAG: perguntas em linguagem natural sobre o catálogo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Arquitetura (POC funcional, não só proposta): descrição do livro + resumos de reviews reais → embeddings locais (sentence-transformers/all-MiniLM-L6-v2) → índice vetorial ChromaDB → LangChain → Groq/Llama 3.3 70B gera a resposta final em português.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13.661 livros indexados (todos com 3+ reviews na amostra) — endpoint POST /perguntar, ex.: "quais livros de fantasia os leitores mais elogiaram?".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Diferencial técnico: a pergunta do usuário é reescrita pelo próprio LLM para inglês antes da busca (o corpus é majoritariamente em inglês) — melhora bastante a qualidade da recuperação sem exigir um modelo de embeddings multilíngue mais pesado.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Precisão@5 média de 80% em queries de teste com gênero-alvo conhecido (varia de 40% a 100% conforme a especificidade da pergunta).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Roadmap de produção: ingestão incremental (novo livro/review → reindexação automática), embeddings multilíngues nativos, re-ranking com LLM para os casos mais difíceis, e filtros de metadata (autor/gênero/nota) combinados à busca semântica.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A78D6"/>
                </a:solidFill>
                <a:latin typeface="Segoe UI"/>
              </a:rPr>
              <a:t>H. MÉTRICAS DE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Como sabemos que a ferramenta está funcionando bem</a:t>
            </a:r>
          </a:p>
        </p:txBody>
      </p:sp>
      <p:pic>
        <p:nvPicPr>
          <p:cNvPr id="5" name="Picture 4" descr="rouge_sumariz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3596640" cy="2213317"/>
          </a:xfrm>
          <a:prstGeom prst="rect">
            <a:avLst/>
          </a:prstGeom>
        </p:spPr>
      </p:pic>
      <p:pic>
        <p:nvPicPr>
          <p:cNvPr id="6" name="Picture 5" descr="rag_precisao_at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440" y="1691640"/>
            <a:ext cx="3596640" cy="1798320"/>
          </a:xfrm>
          <a:prstGeom prst="rect">
            <a:avLst/>
          </a:prstGeom>
        </p:spPr>
      </p:pic>
      <p:pic>
        <p:nvPicPr>
          <p:cNvPr id="7" name="Picture 6" descr="vader_vs_llm_sentimen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680" y="1691640"/>
            <a:ext cx="3596640" cy="28773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A78D6"/>
                </a:solidFill>
                <a:latin typeface="Segoe UI"/>
              </a:rPr>
              <a:t>H. MÉTRICAS DE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Leitura dos números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Sumarização — ROUGE-1/2/L (0,19 / 0,11 / 0,19) mede sobreposição de palavras contra o resumo humano real (referência gold); similaridade semântica via embeddings (0,44) mede significado — as duas juntas mostram que o resumo é fiel mesmo quando ROUGE sozinho pareceria baixo.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RAG — Precisão@5 de 80% em 7 queries de teste cobrindo gêneros distintos (fantasia, negócios, religião, história, tecnologia, culinária, biografia).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Sentimento — no recorte mais difícil (12,5% da amostra, onde o texto "engana" o léxico clássico VADER), o LLM acerta 63,3% das vezes contra 0% do VADER nesse mesmo recorte por construção.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Todas as métricas são reprodutíveis: notebooks/02_avaliacao_qualidade.ipynb roda do zero e recalcula os três números.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34948"/>
                </a:solidFill>
                <a:latin typeface="Segoe UI"/>
              </a:rPr>
              <a:t>I. IMPACTO FINANCEIRO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O que a automação libera, em números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A78D6"/>
                </a:solidFill>
                <a:latin typeface="Segoe UI"/>
              </a:rPr>
              <a:t>96,7%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52514E"/>
                </a:solidFill>
                <a:latin typeface="Segoe UI"/>
              </a:rPr>
              <a:t>de redução no custo por
ciclo de análise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1945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A78D6"/>
                </a:solidFill>
                <a:latin typeface="Segoe UI"/>
              </a:rPr>
              <a:t>14,5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52514E"/>
                </a:solidFill>
                <a:latin typeface="Segoe UI"/>
              </a:rPr>
              <a:t>dias-analista liberados
por ciclo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1945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A78D6"/>
                </a:solidFill>
                <a:latin typeface="Segoe UI"/>
              </a:rPr>
              <a:t>R$ 158 mil/ano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52514E"/>
                </a:solidFill>
                <a:latin typeface="Segoe UI"/>
              </a:rPr>
              <a:t>economia estimada
(premissa: 4 ciclos/mês)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34948"/>
                </a:solidFill>
                <a:latin typeface="Segoe UI"/>
              </a:rPr>
              <a:t>I. IMPACTO FINANCEIRO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Premissas explícitas — ajustáveis ao vivo</a:t>
            </a:r>
          </a:p>
        </p:txBody>
      </p:sp>
      <p:pic>
        <p:nvPicPr>
          <p:cNvPr id="5" name="Picture 4" descr="impacto_financei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11247120" cy="46010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38455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898781"/>
                </a:solidFill>
                <a:latin typeface="Segoe UI"/>
              </a:rPr>
              <a:t>Premissas: R$5.000/mês por analista, 22 dias úteis/mês, 3 dias→0,5 dia por ciclo, 5→1 analista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34948"/>
                </a:solidFill>
                <a:latin typeface="Segoe UI"/>
              </a:rPr>
              <a:t>I. IMPACTO FINANCEIRO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Como chegamos nesses números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Hoje: 5 analistas × 3 dias × taxa diária (R$5.000/mês ÷ 22 dias úteis ≈ R$227,27/dia) = R$3.409,09 por ciclo de análise.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Com a ferramenta: 1 analista × 0,5 dia (revisão/validação dos outputs, não mais execução manual) = R$113,64 por ciclo.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Os analistas liberados (4 de 5, ~14,5 dias-pessoa por ciclo) não são cortados — são realocados para trabalho de maior valor, como pedido no desafio.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Sensibilidade: com 1 ciclo/mês, economia anual de ~R$39,5 mil; com 12 ciclos/mês (quase semanal), ~R$474,5 mil/ano — número final depende da frequência real de uso pela editora.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A78D6"/>
                </a:solidFill>
                <a:latin typeface="Segoe UI"/>
              </a:rPr>
              <a:t>J. POC DA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API funcional — não é só protótipo em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Segoe UI"/>
              </a:rPr>
              <a:t>POST /perguntar — pergunta em linguagem natural sobre o catálogo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1064240" cy="978407"/>
          </a:xfrm>
          <a:prstGeom prst="roundRect">
            <a:avLst>
              <a:gd name="adj" fmla="val 4000"/>
            </a:avLst>
          </a:prstGeom>
          <a:solidFill>
            <a:srgbClr val="1E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200">
                <a:solidFill>
                  <a:srgbClr val="D9D8D3"/>
                </a:solidFill>
                <a:latin typeface="Consolas"/>
              </a:rPr>
              <a:t>{"pergunta": "quais livros de fantasia os leitores mais elogiaram?"}</a:t>
            </a:r>
          </a:p>
          <a:p>
            <a:r>
              <a:rPr sz="1200">
                <a:solidFill>
                  <a:srgbClr val="D9D8D3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D9D8D3"/>
                </a:solidFill>
                <a:latin typeface="Consolas"/>
              </a:rPr>
              <a:t>→ "...leitores mais elogiaram: 'Deep Wizardry' (Diane Duane),</a:t>
            </a:r>
          </a:p>
          <a:p>
            <a:r>
              <a:rPr sz="1200">
                <a:solidFill>
                  <a:srgbClr val="D9D8D3"/>
                </a:solidFill>
                <a:latin typeface="Consolas"/>
              </a:rPr>
              <a:t>   'The Hobbit' (Tolkien), 'The Light Fantastic' (Pratchett)..."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7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0B0B"/>
                </a:solidFill>
                <a:latin typeface="Segoe UI"/>
              </a:rPr>
              <a:t>GET /reviewers-relevantes?genero=Fiction — ranking p/ entrevista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30167"/>
            <a:ext cx="11064240" cy="539496"/>
          </a:xfrm>
          <a:prstGeom prst="roundRect">
            <a:avLst>
              <a:gd name="adj" fmla="val 4000"/>
            </a:avLst>
          </a:prstGeom>
          <a:solidFill>
            <a:srgbClr val="1E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200">
                <a:solidFill>
                  <a:srgbClr val="D9D8D3"/>
                </a:solidFill>
                <a:latin typeface="Consolas"/>
              </a:rPr>
              <a:t>→ [{"profileName": "B. Scalera", "specificity": 16256,</a:t>
            </a:r>
          </a:p>
          <a:p>
            <a:r>
              <a:rPr sz="1200">
                <a:solidFill>
                  <a:srgbClr val="D9D8D3"/>
                </a:solidFill>
                <a:latin typeface="Consolas"/>
              </a:rPr>
              <a:t>     "relevance_score": 4.86, ...}, ...]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A78D6"/>
                </a:solidFill>
                <a:latin typeface="Segoe UI"/>
              </a:rPr>
              <a:t>J. POC DA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Como rodar e onde está o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API FastAPI local: `uvicorn app.main:app --reload` — documentação interativa (Swagger) em /docs, testável direto no navegador.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3 endpoints funcionais: POST /perguntar (RAG), GET /resumo/livro|autor/{nome} (sumarização via LLM), GET /reviewers-relevantes (ranking heurístico).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Reaproveita a arquitetura de um projeto de RAG já validado (LangChain + ChromaDB + Groq), adaptado para o domínio de reviews de livros.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Código completo, notebooks e este PPTX no repositório GitHub — README com instruções de reprodução do zero.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A78D6"/>
                </a:solidFill>
                <a:latin typeface="Segoe UI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De 3 dias manuais para uma consulta em segundos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A ferramenta cobre as duas dores originais da editora: performance por autor/gênero (EDA + NLP clássico) e localização de opiniões relevantes para entrevista (reviewer scoring + RAG).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Uso de LLM não é cosmético: melhora mensurável sobre NLP clássico em sentimento (63% vs. 0% nos casos difíceis) e viabiliza sumarização e busca em linguagem natural que um pipeline clássico não faria bem.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Todas as métricas de qualidade são objetivas e reprodutíveis — não é uma demo de opinião, é um sistema com números que podem virar SLA.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Segoe UI"/>
              </a:rPr>
              <a:t>•  Próximo passo natural: validar com um piloto real com o time de analistas, medir tempo real economizado vs. a estimativa, e priorizar a Fase 2 do roadmap.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